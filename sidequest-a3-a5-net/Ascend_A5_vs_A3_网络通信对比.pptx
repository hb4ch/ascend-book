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09728"/>
            <a:ext cx="12191695" cy="82296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500" b="1">
                <a:solidFill>
                  <a:srgbClr val="FFFFFF"/>
                </a:solidFill>
                <a:latin typeface="Microsoft YaHei"/>
              </a:rPr>
              <a:t>A5 vs A3 · 网络通信能力对比</a:t>
            </a:r>
          </a:p>
          <a:p>
            <a:r>
              <a:rPr sz="1100" b="0">
                <a:solidFill>
                  <a:srgbClr val="9FB0C2"/>
                </a:solidFill>
                <a:latin typeface="Microsoft YaHei"/>
              </a:rPr>
              <a:t>Ascend 950 (NPU arch 3510)  vs  Ascend 910C (arch 2201)  ·  灵衢 UnifiedBus 2.0 带来「面向超节点的内存语义通信」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51560"/>
            <a:ext cx="5715000" cy="566928"/>
          </a:xfrm>
          <a:prstGeom prst="roundRect">
            <a:avLst>
              <a:gd name="adj" fmla="val 15000"/>
            </a:avLst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rgbClr val="0F141C"/>
                </a:solidFill>
                <a:latin typeface="Microsoft YaHei"/>
              </a:rPr>
              <a:t>Ascend A3 · 910C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673352"/>
            <a:ext cx="5715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FB0C2"/>
                </a:solidFill>
                <a:latin typeface="Microsoft YaHei"/>
              </a:rPr>
              <a:t>scale-up 由 HCCS 承载 · scale-out 走 RoCE · 消息式集合通信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051560"/>
            <a:ext cx="5715000" cy="566928"/>
          </a:xfrm>
          <a:prstGeom prst="roundRect">
            <a:avLst>
              <a:gd name="adj" fmla="val 15000"/>
            </a:avLst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700" b="1">
                <a:solidFill>
                  <a:srgbClr val="0F141C"/>
                </a:solidFill>
                <a:latin typeface="Microsoft YaHei"/>
              </a:rPr>
              <a:t>Ascend A5 · 950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73352"/>
            <a:ext cx="5715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FB0C2"/>
                </a:solidFill>
                <a:latin typeface="Microsoft YaHei"/>
              </a:rPr>
              <a:t>灵衢 UnifiedBus(UB) 2.0 全光直连 · URMA 单边 + Load/Store 内存语义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103120"/>
            <a:ext cx="1831848" cy="841248"/>
          </a:xfrm>
          <a:prstGeom prst="roundRect">
            <a:avLst>
              <a:gd name="adj" fmla="val 12000"/>
            </a:avLst>
          </a:prstGeom>
          <a:solidFill>
            <a:srgbClr val="172A3A"/>
          </a:solidFill>
          <a:ln w="12700">
            <a:solidFill>
              <a:srgbClr val="4F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rgbClr val="4F9DE0"/>
                </a:solidFill>
                <a:latin typeface="Microsoft YaHei"/>
              </a:rPr>
              <a:t>784 GB/s</a:t>
            </a:r>
          </a:p>
          <a:p>
            <a:r>
              <a:rPr sz="900" b="0">
                <a:solidFill>
                  <a:srgbClr val="9FB0C2"/>
                </a:solidFill>
                <a:latin typeface="Microsoft YaHei"/>
              </a:rPr>
              <a:t>HCCS 聚合互联带宽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1616" y="2103120"/>
            <a:ext cx="1831848" cy="841248"/>
          </a:xfrm>
          <a:prstGeom prst="roundRect">
            <a:avLst>
              <a:gd name="adj" fmla="val 12000"/>
            </a:avLst>
          </a:prstGeom>
          <a:solidFill>
            <a:srgbClr val="172A3A"/>
          </a:solidFill>
          <a:ln w="12700">
            <a:solidFill>
              <a:srgbClr val="4F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rgbClr val="4F9DE0"/>
                </a:solidFill>
                <a:latin typeface="Microsoft YaHei"/>
              </a:rPr>
              <a:t>微秒级</a:t>
            </a:r>
          </a:p>
          <a:p>
            <a:r>
              <a:rPr sz="900" b="0">
                <a:solidFill>
                  <a:srgbClr val="9FB0C2"/>
                </a:solidFill>
                <a:latin typeface="Microsoft YaHei"/>
              </a:rPr>
              <a:t>单跳链路时延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3192" y="2103120"/>
            <a:ext cx="1831848" cy="841248"/>
          </a:xfrm>
          <a:prstGeom prst="roundRect">
            <a:avLst>
              <a:gd name="adj" fmla="val 12000"/>
            </a:avLst>
          </a:prstGeom>
          <a:solidFill>
            <a:srgbClr val="172A3A"/>
          </a:solidFill>
          <a:ln w="12700">
            <a:solidFill>
              <a:srgbClr val="4F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rgbClr val="4F9DE0"/>
                </a:solidFill>
                <a:latin typeface="Microsoft YaHei"/>
              </a:rPr>
              <a:t>384</a:t>
            </a:r>
          </a:p>
          <a:p>
            <a:r>
              <a:rPr sz="900" b="0">
                <a:solidFill>
                  <a:srgbClr val="9FB0C2"/>
                </a:solidFill>
                <a:latin typeface="Microsoft YaHei"/>
              </a:rPr>
              <a:t>CloudMatrix 集群 (NPU)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1831848" cy="841248"/>
          </a:xfrm>
          <a:prstGeom prst="roundRect">
            <a:avLst>
              <a:gd name="adj" fmla="val 12000"/>
            </a:avLst>
          </a:prstGeom>
          <a:solidFill>
            <a:srgbClr val="1B2533"/>
          </a:solidFill>
          <a:ln w="12700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rgbClr val="E8A03C"/>
                </a:solidFill>
                <a:latin typeface="Microsoft YaHei"/>
              </a:rPr>
              <a:t>2 TB/s</a:t>
            </a:r>
          </a:p>
          <a:p>
            <a:r>
              <a:rPr sz="900" b="0">
                <a:solidFill>
                  <a:srgbClr val="9FB0C2"/>
                </a:solidFill>
                <a:latin typeface="Microsoft YaHei"/>
              </a:rPr>
              <a:t>互联带宽 ≈ 2.5× 910C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3776" y="2103120"/>
            <a:ext cx="1831848" cy="841248"/>
          </a:xfrm>
          <a:prstGeom prst="roundRect">
            <a:avLst>
              <a:gd name="adj" fmla="val 12000"/>
            </a:avLst>
          </a:prstGeom>
          <a:solidFill>
            <a:srgbClr val="1B2533"/>
          </a:solidFill>
          <a:ln w="12700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rgbClr val="E8A03C"/>
                </a:solidFill>
                <a:latin typeface="Microsoft YaHei"/>
              </a:rPr>
              <a:t>200 ns</a:t>
            </a:r>
          </a:p>
          <a:p>
            <a:r>
              <a:rPr sz="900" b="0">
                <a:solidFill>
                  <a:srgbClr val="9FB0C2"/>
                </a:solidFill>
                <a:latin typeface="Microsoft YaHei"/>
              </a:rPr>
              <a:t>单跳时延 ≈ 降低 10×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5352" y="2103120"/>
            <a:ext cx="1831848" cy="841248"/>
          </a:xfrm>
          <a:prstGeom prst="roundRect">
            <a:avLst>
              <a:gd name="adj" fmla="val 12000"/>
            </a:avLst>
          </a:prstGeom>
          <a:solidFill>
            <a:srgbClr val="1B2533"/>
          </a:solidFill>
          <a:ln w="12700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000" b="1">
                <a:solidFill>
                  <a:srgbClr val="E8A03C"/>
                </a:solidFill>
                <a:latin typeface="Microsoft YaHei"/>
              </a:rPr>
              <a:t>8192</a:t>
            </a:r>
          </a:p>
          <a:p>
            <a:r>
              <a:rPr sz="900" b="0">
                <a:solidFill>
                  <a:srgbClr val="9FB0C2"/>
                </a:solidFill>
                <a:latin typeface="Microsoft YaHei"/>
              </a:rPr>
              <a:t>Atlas 950 超节点 (NPU)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035808"/>
            <a:ext cx="5715000" cy="196596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 w="12700">
            <a:solidFill>
              <a:srgbClr val="354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3081528"/>
            <a:ext cx="5458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4F9DE0"/>
                </a:solidFill>
                <a:latin typeface="Microsoft YaHei"/>
              </a:rPr>
              <a:t>互 联 拓 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" y="3401568"/>
            <a:ext cx="932688" cy="384048"/>
          </a:xfrm>
          <a:prstGeom prst="roundRect">
            <a:avLst>
              <a:gd name="adj" fmla="val 15000"/>
            </a:avLst>
          </a:prstGeom>
          <a:solidFill>
            <a:srgbClr val="172A3A"/>
          </a:solidFill>
          <a:ln w="12700">
            <a:solidFill>
              <a:srgbClr val="4F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7844" y="3502152"/>
            <a:ext cx="93268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E6ECF3"/>
                </a:solidFill>
                <a:latin typeface="Microsoft YaHei"/>
              </a:rPr>
              <a:t>NPU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53412" y="3401568"/>
            <a:ext cx="932688" cy="384048"/>
          </a:xfrm>
          <a:prstGeom prst="roundRect">
            <a:avLst>
              <a:gd name="adj" fmla="val 15000"/>
            </a:avLst>
          </a:prstGeom>
          <a:solidFill>
            <a:srgbClr val="172A3A"/>
          </a:solidFill>
          <a:ln w="12700">
            <a:solidFill>
              <a:srgbClr val="4F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3412" y="3502152"/>
            <a:ext cx="93268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E6ECF3"/>
                </a:solidFill>
                <a:latin typeface="Microsoft YaHei"/>
              </a:rPr>
              <a:t>NPU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8980" y="3401568"/>
            <a:ext cx="932688" cy="384048"/>
          </a:xfrm>
          <a:prstGeom prst="roundRect">
            <a:avLst>
              <a:gd name="adj" fmla="val 15000"/>
            </a:avLst>
          </a:prstGeom>
          <a:solidFill>
            <a:srgbClr val="172A3A"/>
          </a:solidFill>
          <a:ln w="12700">
            <a:solidFill>
              <a:srgbClr val="4F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8980" y="3502152"/>
            <a:ext cx="93268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E6ECF3"/>
                </a:solidFill>
                <a:latin typeface="Microsoft YaHei"/>
              </a:rPr>
              <a:t>NPU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4548" y="3401568"/>
            <a:ext cx="932688" cy="384048"/>
          </a:xfrm>
          <a:prstGeom prst="roundRect">
            <a:avLst>
              <a:gd name="adj" fmla="val 15000"/>
            </a:avLst>
          </a:prstGeom>
          <a:solidFill>
            <a:srgbClr val="172A3A"/>
          </a:solidFill>
          <a:ln w="12700">
            <a:solidFill>
              <a:srgbClr val="4F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4548" y="3502152"/>
            <a:ext cx="93268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E6ECF3"/>
                </a:solidFill>
                <a:latin typeface="Microsoft YaHei"/>
              </a:rPr>
              <a:t>NPU 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4188.0" y="3593592.0"/>
            <a:ext cx="1115568.0" cy="0.0"/>
          </a:xfrm>
          <a:prstGeom prst="line">
            <a:avLst/>
          </a:prstGeom>
          <a:ln w="17780">
            <a:solidFill>
              <a:srgbClr val="4F9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19756.0" y="3593592.0"/>
            <a:ext cx="1115568.0" cy="0.0"/>
          </a:xfrm>
          <a:prstGeom prst="line">
            <a:avLst/>
          </a:prstGeom>
          <a:ln w="17780">
            <a:solidFill>
              <a:srgbClr val="4F9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35324.0" y="3593592.0"/>
            <a:ext cx="1115568.0" cy="0.0"/>
          </a:xfrm>
          <a:prstGeom prst="line">
            <a:avLst/>
          </a:prstGeom>
          <a:ln w="17780">
            <a:solidFill>
              <a:srgbClr val="4F9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504188.0" y="3593592.0"/>
            <a:ext cx="3346704.0" cy="0.0"/>
          </a:xfrm>
          <a:prstGeom prst="line">
            <a:avLst/>
          </a:prstGeom>
          <a:ln w="17780">
            <a:solidFill>
              <a:srgbClr val="4F9D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8056" y="3803904"/>
            <a:ext cx="28575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1">
                <a:solidFill>
                  <a:srgbClr val="4F9DE0"/>
                </a:solidFill>
                <a:latin typeface="Microsoft YaHei"/>
              </a:rPr>
              <a:t>HCCS 板内直连 (~784 GB/s)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91740" y="4133088"/>
            <a:ext cx="1371600" cy="402336"/>
          </a:xfrm>
          <a:prstGeom prst="roundRect">
            <a:avLst>
              <a:gd name="adj" fmla="val 15000"/>
            </a:avLst>
          </a:prstGeom>
          <a:solidFill>
            <a:srgbClr val="1A2430"/>
          </a:solidFill>
          <a:ln w="12700">
            <a:solidFill>
              <a:srgbClr val="4F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1740" y="4197096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E6ECF3"/>
                </a:solidFill>
                <a:latin typeface="Microsoft YaHei"/>
              </a:rPr>
              <a:t>RoCE 交换机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04188.0" y="3593592.0"/>
            <a:ext cx="1673352.0" cy="539496.0"/>
          </a:xfrm>
          <a:prstGeom prst="line">
            <a:avLst/>
          </a:prstGeom>
          <a:ln w="12700">
            <a:solidFill>
              <a:srgbClr val="6F7A86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177540.0" y="3593592.0"/>
            <a:ext cx="557784.0" cy="539496.0"/>
          </a:xfrm>
          <a:prstGeom prst="line">
            <a:avLst/>
          </a:prstGeom>
          <a:ln w="12700">
            <a:solidFill>
              <a:srgbClr val="6F7A86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48056" y="4617720"/>
            <a:ext cx="5458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FB0C2"/>
                </a:solidFill>
                <a:latin typeface="Microsoft YaHei"/>
              </a:rPr>
              <a:t>RoCEv2 (100G×2) scale-out · 跨机箱需交换机，多跳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035808"/>
            <a:ext cx="5715000" cy="1965960"/>
          </a:xfrm>
          <a:prstGeom prst="roundRect">
            <a:avLst>
              <a:gd name="adj" fmla="val 8000"/>
            </a:avLst>
          </a:prstGeom>
          <a:solidFill>
            <a:srgbClr val="121A24"/>
          </a:solidFill>
          <a:ln w="12700">
            <a:solidFill>
              <a:srgbClr val="354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3081528"/>
            <a:ext cx="5458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8A03C"/>
                </a:solidFill>
                <a:latin typeface="Microsoft YaHei"/>
              </a:rPr>
              <a:t>互 联 拓 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07708" y="3401568"/>
            <a:ext cx="786384" cy="365760"/>
          </a:xfrm>
          <a:prstGeom prst="roundRect">
            <a:avLst>
              <a:gd name="adj" fmla="val 15000"/>
            </a:avLst>
          </a:prstGeom>
          <a:solidFill>
            <a:srgbClr val="1B2533"/>
          </a:solidFill>
          <a:ln w="12700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07708" y="3493008"/>
            <a:ext cx="78638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E6ECF3"/>
                </a:solidFill>
                <a:latin typeface="Microsoft YaHei"/>
              </a:rPr>
              <a:t>NPU 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2108" y="3401568"/>
            <a:ext cx="786384" cy="365760"/>
          </a:xfrm>
          <a:prstGeom prst="roundRect">
            <a:avLst>
              <a:gd name="adj" fmla="val 15000"/>
            </a:avLst>
          </a:prstGeom>
          <a:solidFill>
            <a:srgbClr val="1B2533"/>
          </a:solidFill>
          <a:ln w="12700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2108" y="3493008"/>
            <a:ext cx="78638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E6ECF3"/>
                </a:solidFill>
                <a:latin typeface="Microsoft YaHei"/>
              </a:rPr>
              <a:t>NPU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6508" y="3401568"/>
            <a:ext cx="786384" cy="365760"/>
          </a:xfrm>
          <a:prstGeom prst="roundRect">
            <a:avLst>
              <a:gd name="adj" fmla="val 15000"/>
            </a:avLst>
          </a:prstGeom>
          <a:solidFill>
            <a:srgbClr val="1B2533"/>
          </a:solidFill>
          <a:ln w="12700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36508" y="3493008"/>
            <a:ext cx="78638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E6ECF3"/>
                </a:solidFill>
                <a:latin typeface="Microsoft YaHei"/>
              </a:rPr>
              <a:t>NPU 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50908" y="3401568"/>
            <a:ext cx="786384" cy="365760"/>
          </a:xfrm>
          <a:prstGeom prst="roundRect">
            <a:avLst>
              <a:gd name="adj" fmla="val 15000"/>
            </a:avLst>
          </a:prstGeom>
          <a:solidFill>
            <a:srgbClr val="1B2533"/>
          </a:solidFill>
          <a:ln w="12700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0908" y="3493008"/>
            <a:ext cx="78638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E6ECF3"/>
                </a:solidFill>
                <a:latin typeface="Microsoft YaHei"/>
              </a:rPr>
              <a:t>NPU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65308" y="3401568"/>
            <a:ext cx="786384" cy="365760"/>
          </a:xfrm>
          <a:prstGeom prst="roundRect">
            <a:avLst>
              <a:gd name="adj" fmla="val 15000"/>
            </a:avLst>
          </a:prstGeom>
          <a:solidFill>
            <a:srgbClr val="1B2533"/>
          </a:solidFill>
          <a:ln w="12700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65308" y="3493008"/>
            <a:ext cx="78638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E6ECF3"/>
                </a:solidFill>
                <a:latin typeface="Microsoft YaHei"/>
              </a:rPr>
              <a:t>NPU 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200900.0" y="3584448.0"/>
            <a:ext cx="914400.0" cy="0.0"/>
          </a:xfrm>
          <a:prstGeom prst="line">
            <a:avLst/>
          </a:prstGeom>
          <a:ln w="17780">
            <a:solidFill>
              <a:srgbClr val="E8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115300.0" y="3584448.0"/>
            <a:ext cx="914400.0" cy="0.0"/>
          </a:xfrm>
          <a:prstGeom prst="line">
            <a:avLst/>
          </a:prstGeom>
          <a:ln w="17780">
            <a:solidFill>
              <a:srgbClr val="E8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29700.0" y="3584448.0"/>
            <a:ext cx="914400.0" cy="0.0"/>
          </a:xfrm>
          <a:prstGeom prst="line">
            <a:avLst/>
          </a:prstGeom>
          <a:ln w="17780">
            <a:solidFill>
              <a:srgbClr val="E8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944100.0" y="3584448.0"/>
            <a:ext cx="914400.0" cy="0.0"/>
          </a:xfrm>
          <a:prstGeom prst="line">
            <a:avLst/>
          </a:prstGeom>
          <a:ln w="17780">
            <a:solidFill>
              <a:srgbClr val="E8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200900.0" y="3584448.0"/>
            <a:ext cx="1828800.0" cy="0.0"/>
          </a:xfrm>
          <a:prstGeom prst="line">
            <a:avLst/>
          </a:prstGeom>
          <a:ln w="12700">
            <a:solidFill>
              <a:srgbClr val="E8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029700.0" y="3584448.0"/>
            <a:ext cx="1828800.0" cy="0.0"/>
          </a:xfrm>
          <a:prstGeom prst="line">
            <a:avLst/>
          </a:prstGeom>
          <a:ln w="12700">
            <a:solidFill>
              <a:srgbClr val="E8A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703820" y="4114800"/>
            <a:ext cx="2651760" cy="420624"/>
          </a:xfrm>
          <a:prstGeom prst="roundRect">
            <a:avLst>
              <a:gd name="adj" fmla="val 15000"/>
            </a:avLst>
          </a:prstGeom>
          <a:solidFill>
            <a:srgbClr val="1B2533"/>
          </a:solidFill>
          <a:ln w="12700">
            <a:solidFill>
              <a:srgbClr val="6FC7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03820" y="417880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6FC78F"/>
                </a:solidFill>
                <a:latin typeface="Microsoft YaHei"/>
              </a:rPr>
              <a:t>域内统一编址内存池（远端 HBM）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200900.0" y="3584448.0"/>
            <a:ext cx="1188720.0" cy="530352.0"/>
          </a:xfrm>
          <a:prstGeom prst="line">
            <a:avLst/>
          </a:prstGeom>
          <a:ln w="17780">
            <a:solidFill>
              <a:srgbClr val="6FC7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9669780.0" y="3584448.0"/>
            <a:ext cx="1188720.0" cy="530352.0"/>
          </a:xfrm>
          <a:prstGeom prst="line">
            <a:avLst/>
          </a:prstGeom>
          <a:ln w="17780">
            <a:solidFill>
              <a:srgbClr val="6FC7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300216" y="4617720"/>
            <a:ext cx="5458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FB0C2"/>
                </a:solidFill>
                <a:latin typeface="Microsoft YaHei"/>
              </a:rPr>
              <a:t>UB-Mesh 递归直连 · 单柜 64 卡 → 8192 卡超节点 · URMA 单边读写远端内存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0040" y="5413248"/>
            <a:ext cx="5715000" cy="658368"/>
          </a:xfrm>
          <a:prstGeom prst="roundRect">
            <a:avLst>
              <a:gd name="adj" fmla="val 10000"/>
            </a:avLst>
          </a:prstGeom>
          <a:solidFill>
            <a:srgbClr val="14202C"/>
          </a:solidFill>
          <a:ln w="12700">
            <a:solidFill>
              <a:srgbClr val="4F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4F9DE0"/>
                </a:solidFill>
                <a:latin typeface="Microsoft YaHei"/>
              </a:rPr>
              <a:t>定位：以「算」为核心</a:t>
            </a:r>
          </a:p>
          <a:p>
            <a:r>
              <a:rPr sz="1000" b="0">
                <a:solidFill>
                  <a:srgbClr val="9FB0C2"/>
                </a:solidFill>
                <a:latin typeface="Microsoft YaHei"/>
              </a:rPr>
              <a:t>跨节点依赖交换机 + 消息式通信；KV/权重需多跳或回 CPU 内存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200" y="5413248"/>
            <a:ext cx="5715000" cy="658368"/>
          </a:xfrm>
          <a:prstGeom prst="roundRect">
            <a:avLst>
              <a:gd name="adj" fmla="val 10000"/>
            </a:avLst>
          </a:prstGeom>
          <a:solidFill>
            <a:srgbClr val="18202A"/>
          </a:solidFill>
          <a:ln w="12700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E8A03C"/>
                </a:solidFill>
                <a:latin typeface="Microsoft YaHei"/>
              </a:rPr>
              <a:t>定位：以「域」为核心（类比：超节点 ≈ 一台大机器）</a:t>
            </a:r>
          </a:p>
          <a:p>
            <a:r>
              <a:rPr sz="1000" b="0">
                <a:solidFill>
                  <a:srgbClr val="9FB0C2"/>
                </a:solidFill>
                <a:latin typeface="Microsoft YaHei"/>
              </a:rPr>
              <a:t>互联即内存：URMA 单边 + 统一编址，直接读写远端 HBM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" y="6236208"/>
            <a:ext cx="11521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6C7A88"/>
                </a:solidFill>
                <a:latin typeface="Microsoft YaHei"/>
              </a:rPr>
              <a:t>口径来源：华为官方超节点/灵衢 2.0 白皮书、Hot Chips 2025 UB-Mesh、CANN 面向 950 架构详解；本图为本 side-quest 科普对比，非 ASCEND 书源码结论，数字为公开口径。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91440"/>
            <a:ext cx="12191695" cy="786384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A5 vs A3 · 网络通信四大差异</a:t>
            </a:r>
          </a:p>
          <a:p>
            <a:r>
              <a:rPr sz="1100" b="0">
                <a:solidFill>
                  <a:srgbClr val="9FB0C2"/>
                </a:solidFill>
                <a:latin typeface="Microsoft YaHei"/>
              </a:rPr>
              <a:t>世界变了：从「板内小互联」到「超节点大互联」——通信从消息式走向单边内存语义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6012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9FB0C2"/>
                </a:solidFill>
                <a:latin typeface="Microsoft YaHei"/>
              </a:rPr>
              <a:t>差异维度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896112"/>
            <a:ext cx="4251960" cy="402336"/>
          </a:xfrm>
          <a:prstGeom prst="roundRect">
            <a:avLst>
              <a:gd name="adj" fmla="val 12000"/>
            </a:avLst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0F141C"/>
                </a:solidFill>
                <a:latin typeface="Microsoft YaHei"/>
              </a:rPr>
              <a:t>Ascend A3 · 910C (arch 2201)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0" y="896112"/>
            <a:ext cx="4846320" cy="402336"/>
          </a:xfrm>
          <a:prstGeom prst="roundRect">
            <a:avLst>
              <a:gd name="adj" fmla="val 12000"/>
            </a:avLst>
          </a:prstGeom>
          <a:solidFill>
            <a:srgbClr val="E8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0F141C"/>
                </a:solidFill>
                <a:latin typeface="Microsoft YaHei"/>
              </a:rPr>
              <a:t>Ascend A5 · 950 (arch 3510)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426464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151F2B"/>
          </a:solidFill>
          <a:ln w="12700">
            <a:solidFill>
              <a:srgbClr val="354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E6ECF3"/>
                </a:solidFill>
                <a:latin typeface="Microsoft YaHei"/>
              </a:rPr>
              <a:t>① 互联总线
与拓扑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426464"/>
            <a:ext cx="4251960" cy="960120"/>
          </a:xfrm>
          <a:prstGeom prst="roundRect">
            <a:avLst>
              <a:gd name="adj" fmla="val 8000"/>
            </a:avLst>
          </a:prstGeom>
          <a:solidFill>
            <a:srgbClr val="172A3A"/>
          </a:solidFill>
          <a:ln w="12700">
            <a:solidFill>
              <a:srgbClr val="2A4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E6ECF3"/>
                </a:solidFill>
                <a:latin typeface="Microsoft YaHei"/>
              </a:rPr>
              <a:t>HCCS 板内直连（~784 GB/s）
scale-out 走 RoCEv2/PCIe，需交换机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426464"/>
            <a:ext cx="4846320" cy="960120"/>
          </a:xfrm>
          <a:prstGeom prst="roundRect">
            <a:avLst>
              <a:gd name="adj" fmla="val 8000"/>
            </a:avLst>
          </a:prstGeom>
          <a:solidFill>
            <a:srgbClr val="1B2533"/>
          </a:solidFill>
          <a:ln w="12700">
            <a:solidFill>
              <a:srgbClr val="3A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E6ECF3"/>
                </a:solidFill>
                <a:latin typeface="Microsoft YaHei"/>
              </a:rPr>
              <a:t>灵衢 UnifiedBus(UB) 2.0 全光直连（2 TB/s）
UB-Mesh 递归全网状，三级（板/柜/架）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478024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151F2B"/>
          </a:solidFill>
          <a:ln w="12700">
            <a:solidFill>
              <a:srgbClr val="354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E6ECF3"/>
                </a:solidFill>
                <a:latin typeface="Microsoft YaHei"/>
              </a:rPr>
              <a:t>② 通信模型
与语义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2478024"/>
            <a:ext cx="4251960" cy="960120"/>
          </a:xfrm>
          <a:prstGeom prst="roundRect">
            <a:avLst>
              <a:gd name="adj" fmla="val 8000"/>
            </a:avLst>
          </a:prstGeom>
          <a:solidFill>
            <a:srgbClr val="172A3A"/>
          </a:solidFill>
          <a:ln w="12700">
            <a:solidFill>
              <a:srgbClr val="2A4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E6ECF3"/>
                </a:solidFill>
                <a:latin typeface="Microsoft YaHei"/>
              </a:rPr>
              <a:t>消息传递为主：HCCL/HCOMM 集合通信
(AllReduce/ReduceScatter/AllGather)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2478024"/>
            <a:ext cx="4846320" cy="960120"/>
          </a:xfrm>
          <a:prstGeom prst="roundRect">
            <a:avLst>
              <a:gd name="adj" fmla="val 8000"/>
            </a:avLst>
          </a:prstGeom>
          <a:solidFill>
            <a:srgbClr val="1B2533"/>
          </a:solidFill>
          <a:ln w="12700">
            <a:solidFill>
              <a:srgbClr val="3A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E6ECF3"/>
                </a:solidFill>
                <a:latin typeface="Microsoft YaHei"/>
              </a:rPr>
              <a:t>URMA 单边 (one-sided) 读写
同时支持 Load/Store 同步 &amp; URMA 异步消息双语义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529584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151F2B"/>
          </a:solidFill>
          <a:ln w="12700">
            <a:solidFill>
              <a:srgbClr val="354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E6ECF3"/>
                </a:solidFill>
                <a:latin typeface="Microsoft YaHei"/>
              </a:rPr>
              <a:t>③ 内存/地址
语义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3529584"/>
            <a:ext cx="4251960" cy="960120"/>
          </a:xfrm>
          <a:prstGeom prst="roundRect">
            <a:avLst>
              <a:gd name="adj" fmla="val 8000"/>
            </a:avLst>
          </a:prstGeom>
          <a:solidFill>
            <a:srgbClr val="172A3A"/>
          </a:solidFill>
          <a:ln w="12700">
            <a:solidFill>
              <a:srgbClr val="2A4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E6ECF3"/>
                </a:solidFill>
                <a:latin typeface="Microsoft YaHei"/>
              </a:rPr>
              <a:t>无跨卡统一编址
远端访问=多跳/显式消息，KV/权重常回 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3529584"/>
            <a:ext cx="4846320" cy="960120"/>
          </a:xfrm>
          <a:prstGeom prst="roundRect">
            <a:avLst>
              <a:gd name="adj" fmla="val 8000"/>
            </a:avLst>
          </a:prstGeom>
          <a:solidFill>
            <a:srgbClr val="1B2533"/>
          </a:solidFill>
          <a:ln w="12700">
            <a:solidFill>
              <a:srgbClr val="3A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E6ECF3"/>
                </a:solidFill>
                <a:latin typeface="Microsoft YaHei"/>
              </a:rPr>
              <a:t>SHMEM 全域内存语义 + 统一编址/内存池化
KV Cache 可放远端 HBM，一条 URMA Read 拉回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581144"/>
            <a:ext cx="2148840" cy="960120"/>
          </a:xfrm>
          <a:prstGeom prst="roundRect">
            <a:avLst>
              <a:gd name="adj" fmla="val 8000"/>
            </a:avLst>
          </a:prstGeom>
          <a:solidFill>
            <a:srgbClr val="151F2B"/>
          </a:solidFill>
          <a:ln w="12700">
            <a:solidFill>
              <a:srgbClr val="354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E6ECF3"/>
                </a:solidFill>
                <a:latin typeface="Microsoft YaHei"/>
              </a:rPr>
              <a:t>④ 时延与
带宽量级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4581144"/>
            <a:ext cx="4251960" cy="960120"/>
          </a:xfrm>
          <a:prstGeom prst="roundRect">
            <a:avLst>
              <a:gd name="adj" fmla="val 8000"/>
            </a:avLst>
          </a:prstGeom>
          <a:solidFill>
            <a:srgbClr val="172A3A"/>
          </a:solidFill>
          <a:ln w="12700">
            <a:solidFill>
              <a:srgbClr val="2A4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E6ECF3"/>
                </a:solidFill>
                <a:latin typeface="Microsoft YaHei"/>
              </a:rPr>
              <a:t>单跳 ~2µs、跨柜 ~7µs
互联带宽 784 GB/s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4581144"/>
            <a:ext cx="4846320" cy="960120"/>
          </a:xfrm>
          <a:prstGeom prst="roundRect">
            <a:avLst>
              <a:gd name="adj" fmla="val 8000"/>
            </a:avLst>
          </a:prstGeom>
          <a:solidFill>
            <a:srgbClr val="1B2533"/>
          </a:solidFill>
          <a:ln w="12700">
            <a:solidFill>
              <a:srgbClr val="3A3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E6ECF3"/>
                </a:solidFill>
                <a:latin typeface="Microsoft YaHei"/>
              </a:rPr>
              <a:t>单跳 ~200 ns（↓10×，仅指单跳）、跨柜 ~3 µs
互联带宽 2 TB/s（≈ 2.5× 910C）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632704"/>
            <a:ext cx="11551615" cy="585216"/>
          </a:xfrm>
          <a:prstGeom prst="roundRect">
            <a:avLst>
              <a:gd name="adj" fmla="val 10000"/>
            </a:avLst>
          </a:prstGeom>
          <a:solidFill>
            <a:srgbClr val="14202C"/>
          </a:solidFill>
          <a:ln w="12700">
            <a:solidFill>
              <a:srgbClr val="E8A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E8A03C"/>
                </a:solidFill>
                <a:latin typeface="Microsoft YaHei"/>
              </a:rPr>
              <a:t>一句话总结：</a:t>
            </a:r>
          </a:p>
          <a:p>
            <a:r>
              <a:rPr sz="1100" b="0">
                <a:solidFill>
                  <a:srgbClr val="E6ECF3"/>
                </a:solidFill>
                <a:latin typeface="Microsoft YaHei"/>
              </a:rPr>
              <a:t>A5 的「网络」不再只是外围通信管道，更像超节点的循环系统（类比）——通过 UB 2.0 + URMA/SHMEM 把多台机器变成统一编址的「一台大机器」，通信从消息式转向内存语义，这是 A3→A5 最本质的网络变化。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19088"/>
            <a:ext cx="11521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>
                <a:solidFill>
                  <a:srgbClr val="6C7A88"/>
                </a:solidFill>
                <a:latin typeface="Microsoft YaHei"/>
              </a:rPr>
              <a:t>来源：华为官方超节点/灵衢 2.0、Hot Chips 2025 UB-Mesh 演讲、CANN 面向 950 架构详解（URMA/Entity/UMMU/UBFM）；hcomm(ascend950 CCU/mc2) 与 hixl 本地仓佐证。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